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93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669280" cy="5669280"/>
          </a:xfrm>
          <a:prstGeom prst="ellipse">
            <a:avLst/>
          </a:prstGeom>
          <a:solidFill>
            <a:srgbClr val="26327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640080"/>
            <a:ext cx="4023360" cy="4023360"/>
          </a:xfrm>
          <a:prstGeom prst="ellipse">
            <a:avLst/>
          </a:prstGeom>
          <a:solidFill>
            <a:srgbClr val="2C3A85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6327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ParkEase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Intelligent &amp; Queue-less Parking Ecosystem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8912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moment you think “I need to park” to the moment you drive away — every step is found, booked, verified and paid automatically. Maximum ease, minimum effort, no time or money wasted.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3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Concept  |  Built for New York · Rome · Paris and other high-density cities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visit costs time, fuel, and patience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cities like New York, Rome and Paris, parking is fragmented across hundreds of independent facilities. The cost isn't just money — it's the time spent searching, the fuel burned circling blocks, and the effort spent on manual tickets and payment, every single visit.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15184" cy="3566160"/>
          </a:xfrm>
          <a:prstGeom prst="roundRect">
            <a:avLst>
              <a:gd name="adj" fmla="val 2797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5328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291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city-wide 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40233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facility runs its own system — there is no single place to see what's open near your destination.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4992" y="2240280"/>
            <a:ext cx="2615184" cy="3566160"/>
          </a:xfrm>
          <a:prstGeom prst="roundRect">
            <a:avLst>
              <a:gd name="adj" fmla="val 2797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1024" y="25328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21024" y="3291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Wasted time &amp; fuel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21024" y="40233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circle blocks hunting for a spot, burning fuel and minutes that add up on every trip.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2240280"/>
            <a:ext cx="2615184" cy="3566160"/>
          </a:xfrm>
          <a:prstGeom prst="roundRect">
            <a:avLst>
              <a:gd name="adj" fmla="val 2797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5328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7376" y="3291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Entrance queues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7376" y="40233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tickets and gate staff create bottlenecks exactly where traffic is heaviest.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97696" y="2240280"/>
            <a:ext cx="2615184" cy="3566160"/>
          </a:xfrm>
          <a:prstGeom prst="roundRect">
            <a:avLst>
              <a:gd name="adj" fmla="val 2797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53728" y="25328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253728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53728" y="3291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Repetitive manual effort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53728" y="40233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cards, and paper tickets every time — the system remembers nothing about you.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journey, every problem solved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95097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BOOK → ARRIVE → PARK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7754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6187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554480"/>
            <a:ext cx="1629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Once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2232660" y="1170432"/>
            <a:ext cx="118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51532" y="1170432"/>
            <a:ext cx="17754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2972" y="126187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2442972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24684" y="1554480"/>
            <a:ext cx="1629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Destination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4126992" y="1170432"/>
            <a:ext cx="118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45864" y="1170432"/>
            <a:ext cx="17754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7304" y="126187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4337304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19016" y="1554480"/>
            <a:ext cx="1629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Recommendation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6021324" y="1170432"/>
            <a:ext cx="118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40196" y="1170432"/>
            <a:ext cx="17754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1636" y="126187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6231636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3348" y="1554480"/>
            <a:ext cx="1629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Reserve, Pay &amp; Navigate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7915656" y="1170432"/>
            <a:ext cx="118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34528" y="1170432"/>
            <a:ext cx="17754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25968" y="126187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7" name="Text 25"/>
          <p:cNvSpPr/>
          <p:nvPr/>
        </p:nvSpPr>
        <p:spPr>
          <a:xfrm>
            <a:off x="8125968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107680" y="1554480"/>
            <a:ext cx="1629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Entry Scan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9809988" y="1170432"/>
            <a:ext cx="118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928860" y="1170432"/>
            <a:ext cx="1775460" cy="713232"/>
          </a:xfrm>
          <a:prstGeom prst="roundRect">
            <a:avLst>
              <a:gd name="adj" fmla="val 7692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20300" y="126187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2" name="Text 30"/>
          <p:cNvSpPr/>
          <p:nvPr/>
        </p:nvSpPr>
        <p:spPr>
          <a:xfrm>
            <a:off x="10020300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02012" y="1554480"/>
            <a:ext cx="1629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Slot Allocated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457200" y="186537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PAY → EXIT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2084832"/>
            <a:ext cx="177546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217627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" y="2468880"/>
            <a:ext cx="1629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Opens &amp; Park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2232660" y="2084832"/>
            <a:ext cx="118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351532" y="2084832"/>
            <a:ext cx="177546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42972" y="217627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2" name="Text 40"/>
          <p:cNvSpPr/>
          <p:nvPr/>
        </p:nvSpPr>
        <p:spPr>
          <a:xfrm>
            <a:off x="2442972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24684" y="2468880"/>
            <a:ext cx="1629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Requested</a:t>
            </a:r>
            <a:endParaRPr lang="en-US" sz="870" dirty="0"/>
          </a:p>
        </p:txBody>
      </p:sp>
      <p:sp>
        <p:nvSpPr>
          <p:cNvPr id="44" name="Text 42"/>
          <p:cNvSpPr/>
          <p:nvPr/>
        </p:nvSpPr>
        <p:spPr>
          <a:xfrm>
            <a:off x="4126992" y="2084832"/>
            <a:ext cx="118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45864" y="2084832"/>
            <a:ext cx="177546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37304" y="217627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7" name="Text 45"/>
          <p:cNvSpPr/>
          <p:nvPr/>
        </p:nvSpPr>
        <p:spPr>
          <a:xfrm>
            <a:off x="4337304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319016" y="2468880"/>
            <a:ext cx="1629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Auto-Calculated</a:t>
            </a:r>
            <a:endParaRPr lang="en-US" sz="870" dirty="0"/>
          </a:p>
        </p:txBody>
      </p:sp>
      <p:sp>
        <p:nvSpPr>
          <p:cNvPr id="49" name="Text 47"/>
          <p:cNvSpPr/>
          <p:nvPr/>
        </p:nvSpPr>
        <p:spPr>
          <a:xfrm>
            <a:off x="6021324" y="2084832"/>
            <a:ext cx="118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40196" y="2084832"/>
            <a:ext cx="177546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31636" y="217627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2" name="Text 50"/>
          <p:cNvSpPr/>
          <p:nvPr/>
        </p:nvSpPr>
        <p:spPr>
          <a:xfrm>
            <a:off x="6231636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13348" y="2468880"/>
            <a:ext cx="1629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or Auto-Deduct</a:t>
            </a:r>
            <a:endParaRPr lang="en-US" sz="870" dirty="0"/>
          </a:p>
        </p:txBody>
      </p:sp>
      <p:sp>
        <p:nvSpPr>
          <p:cNvPr id="54" name="Text 52"/>
          <p:cNvSpPr/>
          <p:nvPr/>
        </p:nvSpPr>
        <p:spPr>
          <a:xfrm>
            <a:off x="7915656" y="2084832"/>
            <a:ext cx="118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034528" y="2084832"/>
            <a:ext cx="177546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25968" y="217627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7" name="Text 55"/>
          <p:cNvSpPr/>
          <p:nvPr/>
        </p:nvSpPr>
        <p:spPr>
          <a:xfrm>
            <a:off x="8125968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107680" y="2468880"/>
            <a:ext cx="1629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Exit + ANPR</a:t>
            </a:r>
            <a:endParaRPr lang="en-US" sz="870" dirty="0"/>
          </a:p>
        </p:txBody>
      </p:sp>
      <p:sp>
        <p:nvSpPr>
          <p:cNvPr id="59" name="Text 57"/>
          <p:cNvSpPr/>
          <p:nvPr/>
        </p:nvSpPr>
        <p:spPr>
          <a:xfrm>
            <a:off x="9809988" y="2084832"/>
            <a:ext cx="118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928860" y="2084832"/>
            <a:ext cx="177546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020300" y="2176272"/>
            <a:ext cx="274320" cy="2743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2" name="Text 60"/>
          <p:cNvSpPr/>
          <p:nvPr/>
        </p:nvSpPr>
        <p:spPr>
          <a:xfrm>
            <a:off x="1002030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002012" y="2468880"/>
            <a:ext cx="1629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Released</a:t>
            </a:r>
            <a:endParaRPr lang="en-US" sz="870" dirty="0"/>
          </a:p>
        </p:txBody>
      </p:sp>
      <p:sp>
        <p:nvSpPr>
          <p:cNvPr id="64" name="Text 62"/>
          <p:cNvSpPr/>
          <p:nvPr/>
        </p:nvSpPr>
        <p:spPr>
          <a:xfrm>
            <a:off x="457200" y="3127248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PROBLEM, SOLVED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57200" y="338328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246120" y="338328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PARKEASE SOLUTION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818120" y="338328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SAVE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57200" y="3621024"/>
            <a:ext cx="1124712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200" y="3639312"/>
            <a:ext cx="11247120" cy="36576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70" name="Text 68"/>
          <p:cNvSpPr/>
          <p:nvPr/>
        </p:nvSpPr>
        <p:spPr>
          <a:xfrm>
            <a:off x="566928" y="36393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city-wide view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3246120" y="36393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connects every facility in the city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818120" y="36393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real options instantly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66928" y="40050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 &amp; fuel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3246120" y="40050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Destination-based recommendation ranks the best facility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818120" y="4005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straight there — no circling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57200" y="4370832"/>
            <a:ext cx="11247120" cy="36576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77" name="Text 75"/>
          <p:cNvSpPr/>
          <p:nvPr/>
        </p:nvSpPr>
        <p:spPr>
          <a:xfrm>
            <a:off x="566928" y="43708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 queues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3246120" y="43708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reads the plate and opens the barrier automatically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818120" y="43708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wait at the busiest moment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66928" y="47365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reservations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3246120" y="47365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reserved; exact slot assigned live on arrival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818120" y="4736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accurate, never a wasted trip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57200" y="5102352"/>
            <a:ext cx="11247120" cy="365760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84" name="Text 82"/>
          <p:cNvSpPr/>
          <p:nvPr/>
        </p:nvSpPr>
        <p:spPr>
          <a:xfrm>
            <a:off x="566928" y="51023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manual payment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3246120" y="51023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Auto-calculated billing with one-tap digital payment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818120" y="5102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time actually used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66928" y="5468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vs. local mismatch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3237653" y="54681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reserve-and-pay for visitors, wallet auto-pay for locals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818120" y="5468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experience for every driver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57200" y="5998464"/>
            <a:ext cx="1124712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91" name="Text 89"/>
          <p:cNvSpPr/>
          <p:nvPr/>
        </p:nvSpPr>
        <p:spPr>
          <a:xfrm>
            <a:off x="640080" y="6080760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Registration</a:t>
            </a:r>
            <a:endParaRPr lang="en-US" sz="1250" dirty="0"/>
          </a:p>
        </p:txBody>
      </p:sp>
      <p:sp>
        <p:nvSpPr>
          <p:cNvPr id="92" name="Text 90"/>
          <p:cNvSpPr/>
          <p:nvPr/>
        </p:nvSpPr>
        <p:spPr>
          <a:xfrm>
            <a:off x="640080" y="6364224"/>
            <a:ext cx="25374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citywide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451860" y="6080760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Queue Entry</a:t>
            </a:r>
            <a:endParaRPr lang="en-US" sz="1250" dirty="0"/>
          </a:p>
        </p:txBody>
      </p:sp>
      <p:sp>
        <p:nvSpPr>
          <p:cNvPr id="94" name="Text 92"/>
          <p:cNvSpPr/>
          <p:nvPr/>
        </p:nvSpPr>
        <p:spPr>
          <a:xfrm>
            <a:off x="3451860" y="6364224"/>
            <a:ext cx="25374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at every gate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3268980" y="6108192"/>
            <a:ext cx="0" cy="438912"/>
          </a:xfrm>
          <a:prstGeom prst="line">
            <a:avLst/>
          </a:prstGeom>
          <a:noFill/>
          <a:ln w="9525">
            <a:solidFill>
              <a:srgbClr val="3D4A8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63640" y="6080760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For What You Use</a:t>
            </a:r>
            <a:endParaRPr lang="en-US" sz="1250" dirty="0"/>
          </a:p>
        </p:txBody>
      </p:sp>
      <p:sp>
        <p:nvSpPr>
          <p:cNvPr id="97" name="Text 95"/>
          <p:cNvSpPr/>
          <p:nvPr/>
        </p:nvSpPr>
        <p:spPr>
          <a:xfrm>
            <a:off x="6263640" y="6364224"/>
            <a:ext cx="25374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to the minute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080760" y="6108192"/>
            <a:ext cx="0" cy="438912"/>
          </a:xfrm>
          <a:prstGeom prst="line">
            <a:avLst/>
          </a:prstGeom>
          <a:noFill/>
          <a:ln w="9525">
            <a:solidFill>
              <a:srgbClr val="3D4A8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075420" y="6080760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Auto-Pay For Locals</a:t>
            </a:r>
            <a:endParaRPr lang="en-US" sz="1250" dirty="0"/>
          </a:p>
        </p:txBody>
      </p:sp>
      <p:sp>
        <p:nvSpPr>
          <p:cNvPr id="100" name="Text 98"/>
          <p:cNvSpPr/>
          <p:nvPr/>
        </p:nvSpPr>
        <p:spPr>
          <a:xfrm>
            <a:off x="9075420" y="6364224"/>
            <a:ext cx="25374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FASTag-style wallet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892540" y="6108192"/>
            <a:ext cx="0" cy="438912"/>
          </a:xfrm>
          <a:prstGeom prst="line">
            <a:avLst/>
          </a:prstGeom>
          <a:noFill/>
          <a:ln w="9525">
            <a:solidFill>
              <a:srgbClr val="3D4A8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Architecture, modules &amp;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1965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React Native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997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22997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APIs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334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2633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672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9672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WebSockets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3009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33009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/ OCR service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6347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36347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+ ParkEase Wallet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68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39684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cameras, barriers, sensors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47972"/>
            <a:ext cx="3749040" cy="0"/>
          </a:xfrm>
          <a:prstGeom prst="line">
            <a:avLst/>
          </a:prstGeom>
          <a:noFill/>
          <a:ln w="12700">
            <a:solidFill>
              <a:srgbClr val="E1E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4851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ENTITIES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8051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Vehicle · Parking Facility · Floor · Slot · Reservation · Session · Payment · Wallet · ANPR Log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600200"/>
            <a:ext cx="0" cy="4709160"/>
          </a:xfrm>
          <a:prstGeom prst="line">
            <a:avLst/>
          </a:prstGeom>
          <a:noFill/>
          <a:ln w="12700">
            <a:solidFill>
              <a:srgbClr val="E1E6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1600199"/>
            <a:ext cx="6492240" cy="2660903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 w="12700">
            <a:solidFill>
              <a:srgbClr val="E1E6F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5391573" y="169621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1573" y="2354918"/>
            <a:ext cx="5852160" cy="1659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IN" sz="1200" b="1" dirty="0"/>
              <a:t>Real-time occupancy &amp; availability</a:t>
            </a:r>
            <a:r>
              <a:rPr lang="en-IN" sz="1200" dirty="0"/>
              <a:t> — Live visibility into open, occupied, and reserved slots across every connected facility in the city, updated continuously.</a:t>
            </a:r>
          </a:p>
          <a:p>
            <a:pPr lvl="0"/>
            <a:r>
              <a:rPr lang="en-IN" sz="1200" b="1" dirty="0"/>
              <a:t>Dynamic slot allocation</a:t>
            </a:r>
            <a:r>
              <a:rPr lang="en-IN" sz="1200" dirty="0"/>
              <a:t> — The exact slot is assigned only on arrival, using live occupancy, so it's always accurate and never stale.</a:t>
            </a:r>
          </a:p>
          <a:p>
            <a:pPr lvl="0"/>
            <a:r>
              <a:rPr lang="en-IN" sz="1200" b="1" dirty="0"/>
              <a:t>Fully customizable preferences</a:t>
            </a:r>
            <a:r>
              <a:rPr lang="en-IN" sz="1200" dirty="0"/>
              <a:t> — Choose vehicle type, EV charging, floor preference, and proximity — the system allocates the nearest slot that matches everything you selected.</a:t>
            </a:r>
          </a:p>
          <a:p>
            <a:pPr lvl="0"/>
            <a:r>
              <a:rPr lang="en-IN" sz="1200" b="1" dirty="0"/>
              <a:t>10-minute exit window with grace period</a:t>
            </a:r>
            <a:r>
              <a:rPr lang="en-IN" sz="1200" dirty="0"/>
              <a:t> — Once payment is confirmed, a timed authorization (plus a small configurable buffer) gives you a stress-free exit.</a:t>
            </a:r>
          </a:p>
          <a:p>
            <a:pPr lvl="0"/>
            <a:r>
              <a:rPr lang="en-IN" sz="1200" b="1" dirty="0" err="1"/>
              <a:t>ParkEase</a:t>
            </a:r>
            <a:r>
              <a:rPr lang="en-IN" sz="1200" b="1" dirty="0"/>
              <a:t> Wallet for frequent/local users</a:t>
            </a:r>
            <a:r>
              <a:rPr lang="en-IN" sz="1200" dirty="0"/>
              <a:t> — Linked vehicle auto-deducts at exit, </a:t>
            </a:r>
            <a:r>
              <a:rPr lang="en-IN" sz="1200" dirty="0" err="1"/>
              <a:t>FASTag</a:t>
            </a:r>
            <a:r>
              <a:rPr lang="en-IN" sz="1200" dirty="0"/>
              <a:t>-style no manual payment step for regular drivers.</a:t>
            </a:r>
          </a:p>
          <a:p>
            <a:pPr lvl="0"/>
            <a:r>
              <a:rPr lang="en-IN" sz="1200" b="1" dirty="0"/>
              <a:t>Hybrid access for everyone</a:t>
            </a:r>
            <a:r>
              <a:rPr lang="en-IN" sz="1200" dirty="0"/>
              <a:t> — One-time visitors get full reserve-and-pay flexibility; locals get automatic, wallet-based entry and exit — both on the same platform.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57893" y="4452451"/>
            <a:ext cx="649224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347546" y="4603157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71160" y="4770289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across cities and parking operators, then layer on IoT occupancy sensors, indoor navigation, predictive occupancy, ML-based ranking, dynamic pricing, EV charging integration, operator APIs and cross-city interoperability — turning ParkEase into a city-level parking orchestration platform, not just a booking app.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6141889"/>
            <a:ext cx="5852160" cy="48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→ Recommendation → Reservation → ANPR Entry → Dynamic Slot → Billing → Timed Exit → Release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729</Words>
  <Application>Microsoft Office PowerPoint</Application>
  <PresentationFormat>Widescreen</PresentationFormat>
  <Paragraphs>121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YUVRAJ BHARDWAJ</cp:lastModifiedBy>
  <cp:revision>2</cp:revision>
  <dcterms:created xsi:type="dcterms:W3CDTF">2026-08-10T14:32:43Z</dcterms:created>
  <dcterms:modified xsi:type="dcterms:W3CDTF">2026-08-10T15:07:40Z</dcterms:modified>
</cp:coreProperties>
</file>